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Noto Serif" panose="02020600060500020200" pitchFamily="18" charset="0"/>
      <p:regular r:id="rId17"/>
      <p:bold r:id="rId18"/>
      <p:italic r:id="rId19"/>
      <p:boldItalic r:id="rId20"/>
    </p:embeddedFont>
    <p:embeddedFont>
      <p:font typeface="Noto Serif Medium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F150B3-A487-48D5-A6D8-75E9863437FF}" v="5" dt="2026-05-27T09:53:09.9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bibrat nayak" userId="bbd21c521c8ce83a" providerId="Windows Live" clId="Web-{A4F150B3-A487-48D5-A6D8-75E9863437FF}"/>
    <pc:docChg chg="modSld">
      <pc:chgData name="debibrat nayak" userId="bbd21c521c8ce83a" providerId="Windows Live" clId="Web-{A4F150B3-A487-48D5-A6D8-75E9863437FF}" dt="2026-05-27T09:53:09.972" v="4" actId="1076"/>
      <pc:docMkLst>
        <pc:docMk/>
      </pc:docMkLst>
      <pc:sldChg chg="modSp">
        <pc:chgData name="debibrat nayak" userId="bbd21c521c8ce83a" providerId="Windows Live" clId="Web-{A4F150B3-A487-48D5-A6D8-75E9863437FF}" dt="2026-05-27T09:53:09.972" v="4" actId="1076"/>
        <pc:sldMkLst>
          <pc:docMk/>
          <pc:sldMk cId="0" sldId="258"/>
        </pc:sldMkLst>
        <pc:picChg chg="mod">
          <ac:chgData name="debibrat nayak" userId="bbd21c521c8ce83a" providerId="Windows Live" clId="Web-{A4F150B3-A487-48D5-A6D8-75E9863437FF}" dt="2026-05-27T09:53:09.972" v="4" actId="1076"/>
          <ac:picMkLst>
            <pc:docMk/>
            <pc:sldMk cId="0" sldId="258"/>
            <ac:picMk id="5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B8D3E6-9C02-4BA4-A103-720471731464}" type="datetimeFigureOut">
              <a:t>5/27/2026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58EC9D-623B-49C6-A9FF-905C175AFB1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521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debibrat2010/devops-migration-assessment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9.png"/><Relationship Id="rId5" Type="http://schemas.openxmlformats.org/officeDocument/2006/relationships/hyperlink" Target="https://dev.azure.com/debibrat2021/migration-assessment/_build/results?buildId=20&amp;view=results" TargetMode="Externa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847725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DevOps On-Prem to Cloud — Hands-On Assessment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946300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Debibrat Nayak · May 2026 · </a:t>
            </a:r>
            <a:r>
              <a:rPr lang="en-US" sz="1100" u="sng" dirty="0">
                <a:solidFill>
                  <a:srgbClr val="3A3A3A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https://github.com/debibrat2010/devops-migration-assessment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925119" y="2559397"/>
            <a:ext cx="4722763" cy="1736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Migrate legacy CI/CD (Jenkins, Bamboo, GitLab) and plan Jira Server/DC → Cloud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Primary workload:</a:t>
            </a: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Spring PetClinic → container → Azure DevOps → ACR → App Service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Deliverables:</a:t>
            </a: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inventory, IaC, self-hosted agent, full pipeline, governance, readiness report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Region:</a:t>
            </a: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Southeast Asia · RG </a:t>
            </a:r>
            <a:r>
              <a:rPr lang="en-US" sz="1100" dirty="0">
                <a:solidFill>
                  <a:srgbClr val="4C4C4C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rg-migration-assessement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24362" y="453256"/>
            <a:ext cx="4354339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Current v/s Target Toolchain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824362" y="941189"/>
            <a:ext cx="4924276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On-premises infrastructure introduces operational risk, manual overhead, and limited scalability.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3824362" y="1367135"/>
            <a:ext cx="4924276" cy="1228874"/>
          </a:xfrm>
          <a:prstGeom prst="roundRect">
            <a:avLst>
              <a:gd name="adj" fmla="val 3861"/>
            </a:avLst>
          </a:prstGeom>
          <a:solidFill>
            <a:srgbClr val="FDFBF7"/>
          </a:solidFill>
          <a:ln w="14288">
            <a:solidFill>
              <a:srgbClr val="E6DED2"/>
            </a:solidFill>
            <a:prstDash val="solid"/>
          </a:ln>
          <a:effectLst>
            <a:outerShdw dist="1397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838649" y="1381423"/>
            <a:ext cx="451842" cy="1200299"/>
          </a:xfrm>
          <a:prstGeom prst="roundRect">
            <a:avLst>
              <a:gd name="adj" fmla="val 6707"/>
            </a:avLst>
          </a:prstGeom>
          <a:solidFill>
            <a:srgbClr val="E6DED2">
              <a:alpha val="50000"/>
            </a:srgbClr>
          </a:solidFill>
          <a:ln/>
          <a:effectLst>
            <a:outerShdw dist="1397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977432" y="1875681"/>
            <a:ext cx="169441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380458" y="1494383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As-is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380458" y="1724844"/>
            <a:ext cx="4240932" cy="743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VMware VMs, mixed on-prem CI: Jenkins, Bamboo, GitLab</a:t>
            </a:r>
            <a:endParaRPr lang="en-US" sz="8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SSH / local Docker deploys, manual credentials</a:t>
            </a:r>
            <a:endParaRPr lang="en-US" sz="8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Jira Server/DC for work tracking and approvals</a:t>
            </a:r>
            <a:endParaRPr lang="en-US" sz="8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Artifact stores (Nexus/JFrog), self-managed runners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824362" y="2685976"/>
            <a:ext cx="4924276" cy="2004268"/>
          </a:xfrm>
          <a:prstGeom prst="roundRect">
            <a:avLst>
              <a:gd name="adj" fmla="val 2367"/>
            </a:avLst>
          </a:prstGeom>
          <a:solidFill>
            <a:srgbClr val="FDFBF7"/>
          </a:solidFill>
          <a:ln w="14288">
            <a:solidFill>
              <a:srgbClr val="E6DED2"/>
            </a:solidFill>
            <a:prstDash val="solid"/>
          </a:ln>
          <a:effectLst>
            <a:outerShdw dist="1397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838649" y="2700263"/>
            <a:ext cx="451842" cy="1975693"/>
          </a:xfrm>
          <a:prstGeom prst="roundRect">
            <a:avLst>
              <a:gd name="adj" fmla="val 6707"/>
            </a:avLst>
          </a:prstGeom>
          <a:solidFill>
            <a:srgbClr val="E6DED2">
              <a:alpha val="50000"/>
            </a:srgbClr>
          </a:solidFill>
          <a:ln/>
          <a:effectLst>
            <a:outerShdw dist="1397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977432" y="3582219"/>
            <a:ext cx="169441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380458" y="2813224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To-be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380458" y="3043684"/>
            <a:ext cx="4240932" cy="1519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Source:</a:t>
            </a: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GitHub </a:t>
            </a:r>
            <a:r>
              <a:rPr lang="en-US" sz="850" dirty="0">
                <a:solidFill>
                  <a:srgbClr val="4C4C4C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devops-migration-assessment</a:t>
            </a:r>
            <a:endParaRPr lang="en-US" sz="8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CI/CD:</a:t>
            </a: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Azure DevOps Pipelines + reusable templates</a:t>
            </a:r>
            <a:endParaRPr lang="en-US" sz="8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Agents:</a:t>
            </a: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Self-hosted pool </a:t>
            </a:r>
            <a:r>
              <a:rPr lang="en-US" sz="850" dirty="0">
                <a:solidFill>
                  <a:srgbClr val="4C4C4C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ado-selfhosted-linux</a:t>
            </a: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(+ hosted where applicable)</a:t>
            </a:r>
            <a:endParaRPr lang="en-US" sz="8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Artifacts:</a:t>
            </a: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ACR </a:t>
            </a:r>
            <a:r>
              <a:rPr lang="en-US" sz="850" dirty="0">
                <a:solidFill>
                  <a:srgbClr val="4C4C4C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acrmigdevaa87c040.azurecr.io</a:t>
            </a:r>
            <a:endParaRPr lang="en-US" sz="8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Runtime:</a:t>
            </a: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App Service for Containers </a:t>
            </a:r>
            <a:r>
              <a:rPr lang="en-US" sz="850" dirty="0">
                <a:solidFill>
                  <a:srgbClr val="4C4C4C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mig-dev-aa87c040-petclinic</a:t>
            </a:r>
            <a:endParaRPr lang="en-US" sz="8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Secrets:</a:t>
            </a: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Key Vault </a:t>
            </a:r>
            <a:r>
              <a:rPr lang="en-US" sz="850" dirty="0">
                <a:solidFill>
                  <a:srgbClr val="4C4C4C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kvmigdevaa87c040</a:t>
            </a: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→ variable group </a:t>
            </a:r>
            <a:r>
              <a:rPr lang="en-US" sz="850" dirty="0">
                <a:solidFill>
                  <a:srgbClr val="4C4C4C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petclinic-kv-secrets</a:t>
            </a:r>
            <a:endParaRPr lang="en-US" sz="8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Observability:</a:t>
            </a: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Log Analytics + Application Insights</a:t>
            </a:r>
            <a:endParaRPr lang="en-US" sz="8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Auth:</a:t>
            </a: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OIDC service connection </a:t>
            </a:r>
            <a:r>
              <a:rPr lang="en-US" sz="850" dirty="0">
                <a:solidFill>
                  <a:srgbClr val="4C4C4C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azure-migration-sc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46770"/>
            <a:ext cx="3281437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Target Architecture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89" y="935906"/>
            <a:ext cx="3759622" cy="3759622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489" y="935906"/>
            <a:ext cx="3759622" cy="3759622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6858" y="1664747"/>
            <a:ext cx="4609454" cy="2296791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4714503" y="3534594"/>
            <a:ext cx="4216822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605" y="280615"/>
            <a:ext cx="3747939" cy="254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Discovery &amp; migration planning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56605" y="718393"/>
            <a:ext cx="1906042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Discovery Methodology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56605" y="950863"/>
            <a:ext cx="3391049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Every pipeline is classified before migration — reducing unknowns and rework.</a:t>
            </a:r>
            <a:endParaRPr lang="en-US" sz="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4780" y="1316459"/>
            <a:ext cx="152772" cy="1527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87673" y="1313334"/>
            <a:ext cx="127367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Discover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387673" y="1545803"/>
            <a:ext cx="3059981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Ran </a:t>
            </a:r>
            <a:r>
              <a:rPr lang="en-US" sz="800" dirty="0">
                <a:solidFill>
                  <a:srgbClr val="4C4C4C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tools/pipeline_inventory_analyzer.py</a:t>
            </a:r>
            <a:r>
              <a:rPr lang="en-US" sz="8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on simulated estate in </a:t>
            </a:r>
            <a:r>
              <a:rPr lang="en-US" sz="800" dirty="0">
                <a:solidFill>
                  <a:srgbClr val="4C4C4C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legacy-ci/</a:t>
            </a:r>
            <a:endParaRPr lang="en-US" sz="8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4780" y="1975470"/>
            <a:ext cx="152772" cy="1527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87673" y="1972345"/>
            <a:ext cx="127367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Classify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1387673" y="2204814"/>
            <a:ext cx="3059981" cy="6260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8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SCM, agent, build tool, secrets, artifacts, deploy method, environment, risk</a:t>
            </a:r>
            <a:endParaRPr lang="en-US" sz="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Tag by risk: </a:t>
            </a:r>
            <a:r>
              <a:rPr lang="en-US" sz="8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High</a:t>
            </a:r>
            <a:r>
              <a:rPr lang="en-US" sz="8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(critical path), </a:t>
            </a:r>
            <a:r>
              <a:rPr lang="en-US" sz="8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Medium</a:t>
            </a:r>
            <a:r>
              <a:rPr lang="en-US" sz="8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(standard), </a:t>
            </a:r>
            <a:r>
              <a:rPr lang="en-US" sz="8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Low</a:t>
            </a:r>
            <a:r>
              <a:rPr lang="en-US" sz="8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(simple)</a:t>
            </a:r>
            <a:endParaRPr lang="en-US" sz="8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4780" y="2980432"/>
            <a:ext cx="152772" cy="15277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87673" y="2977307"/>
            <a:ext cx="127367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Map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1387673" y="3209776"/>
            <a:ext cx="3059981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Match patterns to reuProduced JSON + CSV inventory and </a:t>
            </a:r>
            <a:r>
              <a:rPr lang="en-US" sz="8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concept mapping</a:t>
            </a:r>
            <a:r>
              <a:rPr lang="en-US" sz="8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to ADO YAML / GHA / Jenkins cloud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1387673" y="3555727"/>
            <a:ext cx="3059981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5000"/>
              </a:lnSpc>
              <a:buSzPct val="100000"/>
              <a:buChar char="•"/>
            </a:pPr>
            <a:r>
              <a:rPr lang="en-US" sz="8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Factory pattern:</a:t>
            </a:r>
            <a:r>
              <a:rPr lang="en-US" sz="8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one template set (</a:t>
            </a:r>
            <a:r>
              <a:rPr lang="en-US" sz="800" dirty="0">
                <a:solidFill>
                  <a:srgbClr val="4C4C4C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build-container</a:t>
            </a:r>
            <a:r>
              <a:rPr lang="en-US" sz="8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, </a:t>
            </a:r>
            <a:r>
              <a:rPr lang="en-US" sz="800" dirty="0">
                <a:solidFill>
                  <a:srgbClr val="4C4C4C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scan</a:t>
            </a:r>
            <a:r>
              <a:rPr lang="en-US" sz="8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, </a:t>
            </a:r>
            <a:r>
              <a:rPr lang="en-US" sz="800" dirty="0">
                <a:solidFill>
                  <a:srgbClr val="4C4C4C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deploy</a:t>
            </a:r>
            <a:r>
              <a:rPr lang="en-US" sz="8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, </a:t>
            </a:r>
            <a:r>
              <a:rPr lang="en-US" sz="800" dirty="0">
                <a:solidFill>
                  <a:srgbClr val="4C4C4C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smoke</a:t>
            </a:r>
            <a:r>
              <a:rPr lang="en-US" sz="8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) scales to many apps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4700960" y="711026"/>
            <a:ext cx="3391049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Top 3 High-Risk Pipelines : Refer </a:t>
            </a:r>
            <a:r>
              <a:rPr lang="en-US" sz="800" dirty="0">
                <a:solidFill>
                  <a:srgbClr val="4C4C4C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reports/module-b-pipeline-inventory.csv</a:t>
            </a:r>
            <a:endParaRPr lang="en-US" sz="800" dirty="0"/>
          </a:p>
        </p:txBody>
      </p:sp>
      <p:sp>
        <p:nvSpPr>
          <p:cNvPr id="16" name="Shape 11"/>
          <p:cNvSpPr/>
          <p:nvPr/>
        </p:nvSpPr>
        <p:spPr>
          <a:xfrm>
            <a:off x="4700960" y="1073497"/>
            <a:ext cx="3391049" cy="3129037"/>
          </a:xfrm>
          <a:prstGeom prst="roundRect">
            <a:avLst>
              <a:gd name="adj" fmla="val 1368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807967" y="1126927"/>
            <a:ext cx="1378000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Pipeline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5937275" y="1126927"/>
            <a:ext cx="1375618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Risk Level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7064201" y="1126927"/>
            <a:ext cx="1378000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Risk Notes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4807967" y="1369070"/>
            <a:ext cx="920800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PetClinic Monolith Pipeline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5937275" y="1369070"/>
            <a:ext cx="1375618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High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7064201" y="1369070"/>
            <a:ext cx="920800" cy="1007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SSH deploy to VM — migrate to container platform; Manual input gate — map to ADO environment approval; Credential bindings: petclinic-ssh-deploy-key, slack-webhook-token</a:t>
            </a:r>
            <a:endParaRPr lang="en-US" sz="600" dirty="0"/>
          </a:p>
        </p:txBody>
      </p:sp>
      <p:sp>
        <p:nvSpPr>
          <p:cNvPr id="23" name="Text 18"/>
          <p:cNvSpPr/>
          <p:nvPr/>
        </p:nvSpPr>
        <p:spPr>
          <a:xfrm>
            <a:off x="4807967" y="2479104"/>
            <a:ext cx="920800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PetClinic Monolith Build and Deploy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5937275" y="2479104"/>
            <a:ext cx="1375618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High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7064201" y="2479104"/>
            <a:ext cx="920800" cy="5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Bamboo deployment project linked to SSH VM deploy; Shared registry credentials in plan variables</a:t>
            </a:r>
            <a:endParaRPr lang="en-US" sz="600" dirty="0"/>
          </a:p>
        </p:txBody>
      </p:sp>
      <p:sp>
        <p:nvSpPr>
          <p:cNvPr id="26" name="Text 21"/>
          <p:cNvSpPr/>
          <p:nvPr/>
        </p:nvSpPr>
        <p:spPr>
          <a:xfrm>
            <a:off x="4807967" y="3141166"/>
            <a:ext cx="1378000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PetClinic GitLab CI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5937275" y="3141166"/>
            <a:ext cx="1375618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High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7064201" y="3141166"/>
            <a:ext cx="920800" cy="1007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Self-managed runner tags: onprem-linux-runner; Manual deploy jobs — ADO environment approvals; DinD required — ensure self-hosted agent supports privileged mode</a:t>
            </a:r>
            <a:endParaRPr lang="en-US" sz="600" dirty="0"/>
          </a:p>
        </p:txBody>
      </p:sp>
      <p:sp>
        <p:nvSpPr>
          <p:cNvPr id="29" name="Shape 24"/>
          <p:cNvSpPr/>
          <p:nvPr/>
        </p:nvSpPr>
        <p:spPr>
          <a:xfrm>
            <a:off x="4700960" y="4284911"/>
            <a:ext cx="3391049" cy="495523"/>
          </a:xfrm>
          <a:prstGeom prst="roundRect">
            <a:avLst>
              <a:gd name="adj" fmla="val 8637"/>
            </a:avLst>
          </a:prstGeom>
          <a:solidFill>
            <a:srgbClr val="DDDAD4"/>
          </a:solidFill>
          <a:ln/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832" y="4432622"/>
            <a:ext cx="127322" cy="101873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032028" y="4383584"/>
            <a:ext cx="2958108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Full mapping matrix available in evidence reports </a:t>
            </a:r>
            <a:r>
              <a:rPr lang="en-US" sz="800" dirty="0">
                <a:solidFill>
                  <a:srgbClr val="000000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reports/module-b-migration-mapping-matrix.csv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97261" y="230088"/>
            <a:ext cx="5280124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Containerized monolith + ingress/egress simulation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897261" y="679326"/>
            <a:ext cx="2653531" cy="9525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4" name="Text 2"/>
          <p:cNvSpPr/>
          <p:nvPr/>
        </p:nvSpPr>
        <p:spPr>
          <a:xfrm>
            <a:off x="1897261" y="737071"/>
            <a:ext cx="1538883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Module A: Application Inventory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897261" y="883518"/>
            <a:ext cx="2653531" cy="538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03000"/>
              </a:lnSpc>
              <a:buSzPct val="100000"/>
              <a:buChar char="•"/>
            </a:pPr>
            <a:r>
              <a:rPr lang="en-US" sz="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Java 17</a:t>
            </a:r>
            <a:endParaRPr lang="en-US" sz="600" dirty="0"/>
          </a:p>
          <a:p>
            <a:pPr marL="342900" indent="-342900" algn="l">
              <a:lnSpc>
                <a:spcPct val="103000"/>
              </a:lnSpc>
              <a:buSzPct val="100000"/>
              <a:buChar char="•"/>
            </a:pPr>
            <a:r>
              <a:rPr lang="en-US" sz="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Port 8080</a:t>
            </a:r>
            <a:endParaRPr lang="en-US" sz="600" dirty="0"/>
          </a:p>
          <a:p>
            <a:pPr marL="342900" indent="-342900" algn="l">
              <a:lnSpc>
                <a:spcPct val="103000"/>
              </a:lnSpc>
              <a:buSzPct val="100000"/>
              <a:buChar char="•"/>
            </a:pPr>
            <a:r>
              <a:rPr lang="en-US" sz="600" dirty="0">
                <a:solidFill>
                  <a:srgbClr val="4C4C4C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/actuator/health</a:t>
            </a:r>
            <a:r>
              <a:rPr lang="en-US" sz="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endpoint</a:t>
            </a:r>
            <a:endParaRPr lang="en-US" sz="600" dirty="0"/>
          </a:p>
          <a:p>
            <a:pPr marL="342900" indent="-342900" algn="l">
              <a:lnSpc>
                <a:spcPct val="103000"/>
              </a:lnSpc>
              <a:buSzPct val="100000"/>
              <a:buChar char="•"/>
            </a:pPr>
            <a:r>
              <a:rPr lang="en-US" sz="600" dirty="0">
                <a:solidFill>
                  <a:srgbClr val="4C4C4C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H2</a:t>
            </a:r>
            <a:r>
              <a:rPr lang="en-US" sz="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/ </a:t>
            </a:r>
            <a:r>
              <a:rPr lang="en-US" sz="600" dirty="0">
                <a:solidFill>
                  <a:srgbClr val="4C4C4C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</a:t>
            </a:r>
            <a:r>
              <a:rPr lang="en-US" sz="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profiles</a:t>
            </a:r>
            <a:endParaRPr lang="en-US" sz="600" dirty="0"/>
          </a:p>
          <a:p>
            <a:pPr marL="342900" indent="-342900" algn="l">
              <a:lnSpc>
                <a:spcPct val="103000"/>
              </a:lnSpc>
              <a:buSzPct val="100000"/>
              <a:buChar char="•"/>
            </a:pPr>
            <a:r>
              <a:rPr lang="en-US" sz="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Reference: </a:t>
            </a:r>
            <a:r>
              <a:rPr lang="en-US" sz="600" dirty="0">
                <a:solidFill>
                  <a:srgbClr val="4C4C4C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docs/application-inventory.md</a:t>
            </a:r>
            <a:endParaRPr lang="en-US" sz="600" dirty="0"/>
          </a:p>
        </p:txBody>
      </p:sp>
      <p:sp>
        <p:nvSpPr>
          <p:cNvPr id="6" name="Shape 4"/>
          <p:cNvSpPr/>
          <p:nvPr/>
        </p:nvSpPr>
        <p:spPr>
          <a:xfrm>
            <a:off x="4593134" y="679326"/>
            <a:ext cx="2653605" cy="9525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7" name="Text 5"/>
          <p:cNvSpPr/>
          <p:nvPr/>
        </p:nvSpPr>
        <p:spPr>
          <a:xfrm>
            <a:off x="4593134" y="737071"/>
            <a:ext cx="1285056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Module C: Containerization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593134" y="883518"/>
            <a:ext cx="2653605" cy="428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03000"/>
              </a:lnSpc>
              <a:buSzPct val="100000"/>
              <a:buChar char="•"/>
            </a:pPr>
            <a:r>
              <a:rPr lang="en-US" sz="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Multi-stage Dockerfile with </a:t>
            </a:r>
            <a:r>
              <a:rPr lang="en-US" sz="600" dirty="0">
                <a:solidFill>
                  <a:srgbClr val="4C4C4C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mvnw test</a:t>
            </a:r>
            <a:r>
              <a:rPr lang="en-US" sz="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in build stage</a:t>
            </a:r>
            <a:endParaRPr lang="en-US" sz="600" dirty="0"/>
          </a:p>
          <a:p>
            <a:pPr marL="342900" indent="-342900" algn="l">
              <a:lnSpc>
                <a:spcPct val="103000"/>
              </a:lnSpc>
              <a:buSzPct val="100000"/>
              <a:buChar char="•"/>
            </a:pPr>
            <a:r>
              <a:rPr lang="en-US" sz="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Non-root JRE runtime</a:t>
            </a:r>
            <a:endParaRPr lang="en-US" sz="600" dirty="0"/>
          </a:p>
          <a:p>
            <a:pPr marL="342900" indent="-342900" algn="l">
              <a:lnSpc>
                <a:spcPct val="103000"/>
              </a:lnSpc>
              <a:buSzPct val="100000"/>
              <a:buChar char="•"/>
            </a:pPr>
            <a:r>
              <a:rPr lang="en-US" sz="600" dirty="0">
                <a:solidFill>
                  <a:srgbClr val="4C4C4C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WEBSITES_PORT=8080</a:t>
            </a:r>
            <a:r>
              <a:rPr lang="en-US" sz="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configuration</a:t>
            </a:r>
            <a:endParaRPr lang="en-US" sz="600" dirty="0"/>
          </a:p>
          <a:p>
            <a:pPr marL="342900" indent="-342900" algn="l">
              <a:lnSpc>
                <a:spcPct val="103000"/>
              </a:lnSpc>
              <a:buSzPct val="100000"/>
              <a:buChar char="•"/>
            </a:pPr>
            <a:r>
              <a:rPr lang="en-US" sz="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Reference: </a:t>
            </a:r>
            <a:r>
              <a:rPr lang="en-US" sz="600" dirty="0">
                <a:solidFill>
                  <a:srgbClr val="4C4C4C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container/Dockerfile</a:t>
            </a:r>
            <a:endParaRPr lang="en-US" sz="600" dirty="0"/>
          </a:p>
        </p:txBody>
      </p:sp>
      <p:sp>
        <p:nvSpPr>
          <p:cNvPr id="9" name="Shape 7"/>
          <p:cNvSpPr/>
          <p:nvPr/>
        </p:nvSpPr>
        <p:spPr>
          <a:xfrm>
            <a:off x="1897261" y="1644997"/>
            <a:ext cx="2653531" cy="9525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10" name="Text 8"/>
          <p:cNvSpPr/>
          <p:nvPr/>
        </p:nvSpPr>
        <p:spPr>
          <a:xfrm>
            <a:off x="1897261" y="1702743"/>
            <a:ext cx="1297409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Module D: Local Simulation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897261" y="1849189"/>
            <a:ext cx="2653531" cy="524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03000"/>
              </a:lnSpc>
              <a:buSzPct val="100000"/>
              <a:buChar char="•"/>
            </a:pPr>
            <a:r>
              <a:rPr lang="en-US" sz="600" dirty="0">
                <a:solidFill>
                  <a:srgbClr val="4C4C4C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docker-compose.local.yml</a:t>
            </a:r>
            <a:r>
              <a:rPr lang="en-US" sz="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with postgres, mock-egress, nginx ingress, and app services</a:t>
            </a:r>
            <a:endParaRPr lang="en-US" sz="600" dirty="0"/>
          </a:p>
          <a:p>
            <a:pPr marL="342900" indent="-342900" algn="l">
              <a:lnSpc>
                <a:spcPct val="103000"/>
              </a:lnSpc>
              <a:buSzPct val="100000"/>
              <a:buChar char="•"/>
            </a:pPr>
            <a:r>
              <a:rPr lang="en-US" sz="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Request flow: </a:t>
            </a:r>
            <a:r>
              <a:rPr lang="en-US" sz="6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User → nginx:8080 → app → health check</a:t>
            </a:r>
            <a:endParaRPr lang="en-US" sz="600" dirty="0"/>
          </a:p>
          <a:p>
            <a:pPr marL="342900" indent="-342900" algn="l">
              <a:lnSpc>
                <a:spcPct val="103000"/>
              </a:lnSpc>
              <a:buSzPct val="100000"/>
              <a:buChar char="•"/>
            </a:pPr>
            <a:r>
              <a:rPr lang="en-US" sz="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App connections: </a:t>
            </a:r>
            <a:r>
              <a:rPr lang="en-US" sz="6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postgres</a:t>
            </a:r>
            <a:r>
              <a:rPr lang="en-US" sz="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+ </a:t>
            </a:r>
            <a:r>
              <a:rPr lang="en-US" sz="6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mock API</a:t>
            </a:r>
            <a:endParaRPr lang="en-US" sz="600" dirty="0"/>
          </a:p>
          <a:p>
            <a:pPr marL="342900" indent="-342900" algn="l">
              <a:lnSpc>
                <a:spcPct val="103000"/>
              </a:lnSpc>
              <a:buSzPct val="100000"/>
              <a:buChar char="•"/>
            </a:pPr>
            <a:r>
              <a:rPr lang="en-US" sz="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Reference: </a:t>
            </a:r>
            <a:r>
              <a:rPr lang="en-US" sz="600" dirty="0">
                <a:solidFill>
                  <a:srgbClr val="4C4C4C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docker-compose.local.yml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4593134" y="1644997"/>
            <a:ext cx="2653605" cy="9525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13" name="Text 11"/>
          <p:cNvSpPr/>
          <p:nvPr/>
        </p:nvSpPr>
        <p:spPr>
          <a:xfrm>
            <a:off x="4593134" y="1702743"/>
            <a:ext cx="969094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Build Verification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593134" y="1871439"/>
            <a:ext cx="2653605" cy="234404"/>
          </a:xfrm>
          <a:prstGeom prst="roundRect">
            <a:avLst>
              <a:gd name="adj" fmla="val 13891"/>
            </a:avLst>
          </a:prstGeom>
          <a:solidFill>
            <a:srgbClr val="B6FCB8"/>
          </a:solidFill>
          <a:ln/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0599" y="1976661"/>
            <a:ext cx="96887" cy="77465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844951" y="1933129"/>
            <a:ext cx="2324323" cy="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See </a:t>
            </a:r>
            <a:r>
              <a:rPr lang="en-US" sz="600" dirty="0">
                <a:solidFill>
                  <a:srgbClr val="000000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reports/module-a-maven-test.log</a:t>
            </a:r>
            <a:r>
              <a:rPr lang="en-US" sz="6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for the test execution.</a:t>
            </a:r>
            <a:endParaRPr lang="en-US" sz="6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3134" y="2153469"/>
            <a:ext cx="2653605" cy="604912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1897261" y="2911748"/>
            <a:ext cx="2580159" cy="722263"/>
          </a:xfrm>
          <a:prstGeom prst="roundRect">
            <a:avLst>
              <a:gd name="adj" fmla="val 4508"/>
            </a:avLst>
          </a:prstGeom>
          <a:solidFill>
            <a:srgbClr val="E6DED2">
              <a:alpha val="50000"/>
            </a:srgbClr>
          </a:solidFill>
          <a:ln w="4763">
            <a:solidFill>
              <a:srgbClr val="CCC4B8"/>
            </a:solidFill>
            <a:prstDash val="solid"/>
          </a:ln>
          <a:effectLst>
            <a:outerShdw dist="1016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1979488" y="2993975"/>
            <a:ext cx="969094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Panel A: Baseline</a:t>
            </a:r>
            <a:endParaRPr lang="en-US" sz="750" dirty="0"/>
          </a:p>
        </p:txBody>
      </p:sp>
      <p:sp>
        <p:nvSpPr>
          <p:cNvPr id="20" name="Text 16"/>
          <p:cNvSpPr/>
          <p:nvPr/>
        </p:nvSpPr>
        <p:spPr>
          <a:xfrm>
            <a:off x="1979488" y="3157389"/>
            <a:ext cx="2415704" cy="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600" dirty="0">
                <a:solidFill>
                  <a:srgbClr val="000000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reports/module-d-baseline-up.json</a:t>
            </a:r>
            <a:endParaRPr lang="en-US" sz="600" dirty="0"/>
          </a:p>
        </p:txBody>
      </p:sp>
      <p:sp>
        <p:nvSpPr>
          <p:cNvPr id="21" name="Shape 17"/>
          <p:cNvSpPr/>
          <p:nvPr/>
        </p:nvSpPr>
        <p:spPr>
          <a:xfrm>
            <a:off x="1979488" y="3300933"/>
            <a:ext cx="2415704" cy="250850"/>
          </a:xfrm>
          <a:prstGeom prst="roundRect">
            <a:avLst>
              <a:gd name="adj" fmla="val 12981"/>
            </a:avLst>
          </a:prstGeom>
          <a:solidFill>
            <a:srgbClr val="F0EEEA"/>
          </a:solidFill>
          <a:ln/>
        </p:spPr>
      </p:sp>
      <p:sp>
        <p:nvSpPr>
          <p:cNvPr id="22" name="Shape 18"/>
          <p:cNvSpPr/>
          <p:nvPr/>
        </p:nvSpPr>
        <p:spPr>
          <a:xfrm>
            <a:off x="1975619" y="3300933"/>
            <a:ext cx="2423443" cy="250850"/>
          </a:xfrm>
          <a:prstGeom prst="roundRect">
            <a:avLst>
              <a:gd name="adj" fmla="val 4636"/>
            </a:avLst>
          </a:prstGeom>
          <a:solidFill>
            <a:srgbClr val="F0EEEA"/>
          </a:solidFill>
          <a:ln/>
        </p:spPr>
      </p:sp>
      <p:sp>
        <p:nvSpPr>
          <p:cNvPr id="23" name="Text 19"/>
          <p:cNvSpPr/>
          <p:nvPr/>
        </p:nvSpPr>
        <p:spPr>
          <a:xfrm>
            <a:off x="2072506" y="3378398"/>
            <a:ext cx="2229669" cy="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600" dirty="0">
                <a:solidFill>
                  <a:srgbClr val="000000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{"status":"UP"}</a:t>
            </a:r>
            <a:endParaRPr lang="en-US" sz="6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7261" y="3681636"/>
            <a:ext cx="2580159" cy="1184151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4671343" y="2911748"/>
            <a:ext cx="2580159" cy="818183"/>
          </a:xfrm>
          <a:prstGeom prst="roundRect">
            <a:avLst>
              <a:gd name="adj" fmla="val 3980"/>
            </a:avLst>
          </a:prstGeom>
          <a:solidFill>
            <a:srgbClr val="E6DED2">
              <a:alpha val="50000"/>
            </a:srgbClr>
          </a:solidFill>
          <a:ln w="4763">
            <a:solidFill>
              <a:srgbClr val="CCC4B8"/>
            </a:solidFill>
            <a:prstDash val="solid"/>
          </a:ln>
          <a:effectLst>
            <a:outerShdw dist="1016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4753570" y="2993975"/>
            <a:ext cx="969094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Panel B: Failure</a:t>
            </a:r>
            <a:endParaRPr lang="en-US" sz="750" dirty="0"/>
          </a:p>
        </p:txBody>
      </p:sp>
      <p:sp>
        <p:nvSpPr>
          <p:cNvPr id="27" name="Text 22"/>
          <p:cNvSpPr/>
          <p:nvPr/>
        </p:nvSpPr>
        <p:spPr>
          <a:xfrm>
            <a:off x="4753570" y="3157389"/>
            <a:ext cx="2415704" cy="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600" dirty="0">
                <a:solidFill>
                  <a:srgbClr val="000000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reports/module-d-failure-db-down.txt</a:t>
            </a:r>
            <a:endParaRPr lang="en-US" sz="600" dirty="0"/>
          </a:p>
        </p:txBody>
      </p:sp>
      <p:sp>
        <p:nvSpPr>
          <p:cNvPr id="28" name="Shape 23"/>
          <p:cNvSpPr/>
          <p:nvPr/>
        </p:nvSpPr>
        <p:spPr>
          <a:xfrm>
            <a:off x="4753570" y="3300933"/>
            <a:ext cx="2415704" cy="346770"/>
          </a:xfrm>
          <a:prstGeom prst="roundRect">
            <a:avLst>
              <a:gd name="adj" fmla="val 9390"/>
            </a:avLst>
          </a:prstGeom>
          <a:solidFill>
            <a:srgbClr val="F0EEEA"/>
          </a:solidFill>
          <a:ln/>
        </p:spPr>
      </p:sp>
      <p:sp>
        <p:nvSpPr>
          <p:cNvPr id="29" name="Shape 24"/>
          <p:cNvSpPr/>
          <p:nvPr/>
        </p:nvSpPr>
        <p:spPr>
          <a:xfrm>
            <a:off x="4749701" y="3300933"/>
            <a:ext cx="2423443" cy="346770"/>
          </a:xfrm>
          <a:prstGeom prst="roundRect">
            <a:avLst>
              <a:gd name="adj" fmla="val 3354"/>
            </a:avLst>
          </a:prstGeom>
          <a:solidFill>
            <a:srgbClr val="F0EEEA"/>
          </a:solidFill>
          <a:ln/>
        </p:spPr>
      </p:sp>
      <p:sp>
        <p:nvSpPr>
          <p:cNvPr id="30" name="Text 25"/>
          <p:cNvSpPr/>
          <p:nvPr/>
        </p:nvSpPr>
        <p:spPr>
          <a:xfrm>
            <a:off x="4846588" y="3378398"/>
            <a:ext cx="2229669" cy="191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600" dirty="0">
                <a:solidFill>
                  <a:srgbClr val="000000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{"groups":["liveness","readiness"],"status":"DOWN"}</a:t>
            </a:r>
            <a:endParaRPr lang="en-US" sz="600" dirty="0"/>
          </a:p>
          <a:p>
            <a:pPr marL="0" indent="0" algn="l">
              <a:lnSpc>
                <a:spcPct val="103000"/>
              </a:lnSpc>
              <a:buNone/>
            </a:pPr>
            <a:r>
              <a:rPr lang="en-US" sz="600" dirty="0">
                <a:solidFill>
                  <a:srgbClr val="000000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 503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1871" y="395064"/>
            <a:ext cx="8260259" cy="7890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Infrastructure as Code (Terraform) + Secure Azure Access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41871" y="1465213"/>
            <a:ext cx="20354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Stack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41871" y="1774924"/>
            <a:ext cx="529009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C4C4C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iac/terraform/</a:t>
            </a: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— RG, ACR, Key Vault, App Service, App Insights, Log Analytics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41871" y="2078310"/>
            <a:ext cx="20354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Parameters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41871" y="2388022"/>
            <a:ext cx="529009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C4C4C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</a:t>
            </a: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, </a:t>
            </a:r>
            <a:r>
              <a:rPr lang="en-US" sz="950" dirty="0">
                <a:solidFill>
                  <a:srgbClr val="4C4C4C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region</a:t>
            </a: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, </a:t>
            </a:r>
            <a:r>
              <a:rPr lang="en-US" sz="950" dirty="0">
                <a:solidFill>
                  <a:srgbClr val="4C4C4C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SKU</a:t>
            </a: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, </a:t>
            </a:r>
            <a:r>
              <a:rPr lang="en-US" sz="950" dirty="0">
                <a:solidFill>
                  <a:srgbClr val="4C4C4C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tags</a:t>
            </a: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— repeatable dev/prod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41871" y="2691408"/>
            <a:ext cx="20354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Identity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1871" y="3001119"/>
            <a:ext cx="529009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App Service system-assigned MI → </a:t>
            </a:r>
            <a:r>
              <a:rPr lang="en-US" sz="950" dirty="0">
                <a:solidFill>
                  <a:srgbClr val="4C4C4C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AcrPull</a:t>
            </a: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on ACR, KV secrets user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41871" y="3304505"/>
            <a:ext cx="20354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Pipeline Auth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1871" y="3614217"/>
            <a:ext cx="4832896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ADO service connection </a:t>
            </a:r>
            <a:r>
              <a:rPr lang="en-US" sz="950" dirty="0">
                <a:solidFill>
                  <a:srgbClr val="4C4C4C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azure-migration-sc</a:t>
            </a: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(Workload Identity Federation / OIDC)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41871" y="4122613"/>
            <a:ext cx="4832896" cy="499244"/>
          </a:xfrm>
          <a:prstGeom prst="roundRect">
            <a:avLst>
              <a:gd name="adj" fmla="val 10622"/>
            </a:avLst>
          </a:prstGeom>
          <a:solidFill>
            <a:srgbClr val="DDDAD4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077" y="4312816"/>
            <a:ext cx="157758" cy="12620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52041" y="4266605"/>
            <a:ext cx="4753719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No secrets in YAML; secrets in Key Vault, referenced by variable group.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129486" y="1896145"/>
            <a:ext cx="18068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Evidence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587603" y="2219920"/>
            <a:ext cx="3119214" cy="1970931"/>
          </a:xfrm>
          <a:prstGeom prst="roundRect">
            <a:avLst>
              <a:gd name="adj" fmla="val 2691"/>
            </a:avLst>
          </a:prstGeom>
          <a:solidFill>
            <a:srgbClr val="F0EEEA"/>
          </a:solidFill>
          <a:ln/>
        </p:spPr>
      </p:sp>
      <p:sp>
        <p:nvSpPr>
          <p:cNvPr id="16" name="Shape 13"/>
          <p:cNvSpPr/>
          <p:nvPr/>
        </p:nvSpPr>
        <p:spPr>
          <a:xfrm>
            <a:off x="5581352" y="2219920"/>
            <a:ext cx="3131716" cy="1970931"/>
          </a:xfrm>
          <a:prstGeom prst="roundRect">
            <a:avLst>
              <a:gd name="adj" fmla="val 961"/>
            </a:avLst>
          </a:prstGeom>
          <a:solidFill>
            <a:srgbClr val="F0EEEA"/>
          </a:solidFill>
          <a:ln/>
        </p:spPr>
      </p:sp>
      <p:sp>
        <p:nvSpPr>
          <p:cNvPr id="17" name="Text 14"/>
          <p:cNvSpPr/>
          <p:nvPr/>
        </p:nvSpPr>
        <p:spPr>
          <a:xfrm>
            <a:off x="5739110" y="2346127"/>
            <a:ext cx="2816200" cy="17185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reports/module-e-terraform-outputs.json
acr_login_server: acrmigdevaa87c040.azurecr.io
app_service_name: mig-dev-aa87c040-petclinic
key_vault_name: kvmigdevaa87c040
resource_group: rg-migration-assessement
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26531" y="194890"/>
            <a:ext cx="34538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Self-hosted Agent + ADO Templates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2126531" y="1605632"/>
            <a:ext cx="1534939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Agent Pool Configuration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2126531" y="1751781"/>
            <a:ext cx="1953890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Pool: </a:t>
            </a:r>
            <a:r>
              <a:rPr lang="en-US" sz="550" dirty="0">
                <a:solidFill>
                  <a:srgbClr val="4C4C4C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ado-selfhosted-linux</a:t>
            </a:r>
            <a:r>
              <a:rPr lang="en-US" sz="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— agent in Docker on Mac, </a:t>
            </a:r>
            <a:r>
              <a:rPr lang="en-US" sz="550" dirty="0">
                <a:solidFill>
                  <a:srgbClr val="4C4C4C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docker.sock</a:t>
            </a:r>
            <a:r>
              <a:rPr lang="en-US" sz="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mounted</a:t>
            </a:r>
            <a:endParaRPr lang="en-US" sz="5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Tools: Java, Maven, Docker + buildx, Azure CLI, kubectl, Helm, Trivy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2126531" y="2159273"/>
            <a:ext cx="13431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Main Pipeline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2126531" y="2305422"/>
            <a:ext cx="1953890" cy="287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File: </a:t>
            </a:r>
            <a:r>
              <a:rPr lang="en-US" sz="550" dirty="0">
                <a:solidFill>
                  <a:srgbClr val="4C4C4C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pipelines/azure-pipelines.yml</a:t>
            </a:r>
            <a:endParaRPr lang="en-US" sz="5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Stages: Build → Scan → DeployDev → DeployProd → Rollback (on fail) → Post-deploy validation</a:t>
            </a:r>
            <a:endParaRPr lang="en-US" sz="5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3531" y="509290"/>
            <a:ext cx="1693292" cy="1693292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3531" y="509290"/>
            <a:ext cx="1693292" cy="16932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807148" y="2242393"/>
            <a:ext cx="143745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ADO Pipeline Run Summary</a:t>
            </a:r>
            <a:endParaRPr lang="en-US" sz="6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8121" y="2392933"/>
            <a:ext cx="2764110" cy="1292275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2126531" y="3782541"/>
            <a:ext cx="4890939" cy="5283"/>
          </a:xfrm>
          <a:prstGeom prst="rect">
            <a:avLst/>
          </a:prstGeom>
          <a:solidFill>
            <a:srgbClr val="4C4C4C">
              <a:alpha val="50000"/>
            </a:srgbClr>
          </a:solidFill>
          <a:ln/>
        </p:spPr>
      </p:sp>
      <p:sp>
        <p:nvSpPr>
          <p:cNvPr id="12" name="Text 7"/>
          <p:cNvSpPr/>
          <p:nvPr/>
        </p:nvSpPr>
        <p:spPr>
          <a:xfrm>
            <a:off x="2126531" y="3858667"/>
            <a:ext cx="13431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Reusable Templates</a:t>
            </a:r>
            <a:endParaRPr lang="en-US" sz="650" dirty="0"/>
          </a:p>
        </p:txBody>
      </p:sp>
      <p:sp>
        <p:nvSpPr>
          <p:cNvPr id="13" name="Shape 8"/>
          <p:cNvSpPr/>
          <p:nvPr/>
        </p:nvSpPr>
        <p:spPr>
          <a:xfrm>
            <a:off x="2126531" y="4022527"/>
            <a:ext cx="2427759" cy="547836"/>
          </a:xfrm>
          <a:prstGeom prst="roundRect">
            <a:avLst>
              <a:gd name="adj" fmla="val 8346"/>
            </a:avLst>
          </a:prstGeom>
          <a:solidFill>
            <a:srgbClr val="FDFBF7"/>
          </a:solidFill>
          <a:ln w="9525">
            <a:solidFill>
              <a:srgbClr val="E6DED2"/>
            </a:solidFill>
            <a:prstDash val="solid"/>
          </a:ln>
          <a:effectLst>
            <a:outerShdw dist="889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2117006" y="4022527"/>
            <a:ext cx="38100" cy="547836"/>
          </a:xfrm>
          <a:prstGeom prst="roundRect">
            <a:avLst>
              <a:gd name="adj" fmla="val 78140"/>
            </a:avLst>
          </a:prstGeom>
          <a:solidFill>
            <a:srgbClr val="E6DED2"/>
          </a:solidFill>
          <a:ln/>
        </p:spPr>
      </p:sp>
      <p:sp>
        <p:nvSpPr>
          <p:cNvPr id="15" name="Text 10"/>
          <p:cNvSpPr/>
          <p:nvPr/>
        </p:nvSpPr>
        <p:spPr>
          <a:xfrm>
            <a:off x="2235473" y="4102894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build-container.yml</a:t>
            </a:r>
            <a:endParaRPr lang="en-US" sz="650" dirty="0"/>
          </a:p>
        </p:txBody>
      </p:sp>
      <p:sp>
        <p:nvSpPr>
          <p:cNvPr id="16" name="Text 11"/>
          <p:cNvSpPr/>
          <p:nvPr/>
        </p:nvSpPr>
        <p:spPr>
          <a:xfrm>
            <a:off x="2235473" y="4234830"/>
            <a:ext cx="2238449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Multi-stage Docker build, test execution, ACR push with immutable tag</a:t>
            </a:r>
            <a:endParaRPr lang="en-US" sz="550" dirty="0"/>
          </a:p>
        </p:txBody>
      </p:sp>
      <p:sp>
        <p:nvSpPr>
          <p:cNvPr id="17" name="Shape 12"/>
          <p:cNvSpPr/>
          <p:nvPr/>
        </p:nvSpPr>
        <p:spPr>
          <a:xfrm>
            <a:off x="4589711" y="4022527"/>
            <a:ext cx="2427759" cy="547836"/>
          </a:xfrm>
          <a:prstGeom prst="roundRect">
            <a:avLst>
              <a:gd name="adj" fmla="val 8346"/>
            </a:avLst>
          </a:prstGeom>
          <a:solidFill>
            <a:srgbClr val="FDFBF7"/>
          </a:solidFill>
          <a:ln w="9525">
            <a:solidFill>
              <a:srgbClr val="E6DED2"/>
            </a:solidFill>
            <a:prstDash val="solid"/>
          </a:ln>
          <a:effectLst>
            <a:outerShdw dist="889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580186" y="4022527"/>
            <a:ext cx="38100" cy="547836"/>
          </a:xfrm>
          <a:prstGeom prst="roundRect">
            <a:avLst>
              <a:gd name="adj" fmla="val 78140"/>
            </a:avLst>
          </a:prstGeom>
          <a:solidFill>
            <a:srgbClr val="E6DED2"/>
          </a:solidFill>
          <a:ln/>
        </p:spPr>
      </p:sp>
      <p:sp>
        <p:nvSpPr>
          <p:cNvPr id="19" name="Text 14"/>
          <p:cNvSpPr/>
          <p:nvPr/>
        </p:nvSpPr>
        <p:spPr>
          <a:xfrm>
            <a:off x="4698653" y="4102894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security-scan.yml</a:t>
            </a:r>
            <a:endParaRPr lang="en-US" sz="650" dirty="0"/>
          </a:p>
        </p:txBody>
      </p:sp>
      <p:sp>
        <p:nvSpPr>
          <p:cNvPr id="20" name="Text 15"/>
          <p:cNvSpPr/>
          <p:nvPr/>
        </p:nvSpPr>
        <p:spPr>
          <a:xfrm>
            <a:off x="4698653" y="4234830"/>
            <a:ext cx="2238449" cy="255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Trivy image scan + dependency check — gates deployment on CVE threshold</a:t>
            </a:r>
            <a:endParaRPr lang="en-US" sz="5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4C4C4C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reports/module-h-trivyscan.png</a:t>
            </a:r>
            <a:endParaRPr lang="en-US" sz="550" dirty="0"/>
          </a:p>
        </p:txBody>
      </p:sp>
      <p:sp>
        <p:nvSpPr>
          <p:cNvPr id="21" name="Shape 16"/>
          <p:cNvSpPr/>
          <p:nvPr/>
        </p:nvSpPr>
        <p:spPr>
          <a:xfrm>
            <a:off x="2126531" y="4605784"/>
            <a:ext cx="2427759" cy="377726"/>
          </a:xfrm>
          <a:prstGeom prst="roundRect">
            <a:avLst>
              <a:gd name="adj" fmla="val 12104"/>
            </a:avLst>
          </a:prstGeom>
          <a:solidFill>
            <a:srgbClr val="FDFBF7"/>
          </a:solidFill>
          <a:ln w="9525">
            <a:solidFill>
              <a:srgbClr val="E6DED2"/>
            </a:solidFill>
            <a:prstDash val="solid"/>
          </a:ln>
          <a:effectLst>
            <a:outerShdw dist="889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2117006" y="4605784"/>
            <a:ext cx="38100" cy="377726"/>
          </a:xfrm>
          <a:prstGeom prst="roundRect">
            <a:avLst>
              <a:gd name="adj" fmla="val 78140"/>
            </a:avLst>
          </a:prstGeom>
          <a:solidFill>
            <a:srgbClr val="E6DED2"/>
          </a:solidFill>
          <a:ln/>
        </p:spPr>
      </p:sp>
      <p:sp>
        <p:nvSpPr>
          <p:cNvPr id="23" name="Text 18"/>
          <p:cNvSpPr/>
          <p:nvPr/>
        </p:nvSpPr>
        <p:spPr>
          <a:xfrm>
            <a:off x="2235473" y="4686151"/>
            <a:ext cx="139533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deploy-appservice-container.yml</a:t>
            </a:r>
            <a:endParaRPr lang="en-US" sz="650" dirty="0"/>
          </a:p>
        </p:txBody>
      </p:sp>
      <p:sp>
        <p:nvSpPr>
          <p:cNvPr id="24" name="Text 19"/>
          <p:cNvSpPr/>
          <p:nvPr/>
        </p:nvSpPr>
        <p:spPr>
          <a:xfrm>
            <a:off x="2235473" y="4818087"/>
            <a:ext cx="223844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Deploys to App Service for Containers with KV secret injection</a:t>
            </a:r>
            <a:endParaRPr lang="en-US" sz="550" dirty="0"/>
          </a:p>
        </p:txBody>
      </p:sp>
      <p:sp>
        <p:nvSpPr>
          <p:cNvPr id="25" name="Shape 20"/>
          <p:cNvSpPr/>
          <p:nvPr/>
        </p:nvSpPr>
        <p:spPr>
          <a:xfrm>
            <a:off x="4589711" y="4605784"/>
            <a:ext cx="2427759" cy="377726"/>
          </a:xfrm>
          <a:prstGeom prst="roundRect">
            <a:avLst>
              <a:gd name="adj" fmla="val 12104"/>
            </a:avLst>
          </a:prstGeom>
          <a:solidFill>
            <a:srgbClr val="FDFBF7"/>
          </a:solidFill>
          <a:ln w="9525">
            <a:solidFill>
              <a:srgbClr val="E6DED2"/>
            </a:solidFill>
            <a:prstDash val="solid"/>
          </a:ln>
          <a:effectLst>
            <a:outerShdw dist="889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580186" y="4605784"/>
            <a:ext cx="38100" cy="377726"/>
          </a:xfrm>
          <a:prstGeom prst="roundRect">
            <a:avLst>
              <a:gd name="adj" fmla="val 78140"/>
            </a:avLst>
          </a:prstGeom>
          <a:solidFill>
            <a:srgbClr val="E6DED2"/>
          </a:solidFill>
          <a:ln/>
        </p:spPr>
      </p:sp>
      <p:sp>
        <p:nvSpPr>
          <p:cNvPr id="27" name="Text 22"/>
          <p:cNvSpPr/>
          <p:nvPr/>
        </p:nvSpPr>
        <p:spPr>
          <a:xfrm>
            <a:off x="4698653" y="4686151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smoke-test.yml</a:t>
            </a:r>
            <a:endParaRPr lang="en-US" sz="650" dirty="0"/>
          </a:p>
        </p:txBody>
      </p:sp>
      <p:sp>
        <p:nvSpPr>
          <p:cNvPr id="28" name="Text 23"/>
          <p:cNvSpPr/>
          <p:nvPr/>
        </p:nvSpPr>
        <p:spPr>
          <a:xfrm>
            <a:off x="4698653" y="4818087"/>
            <a:ext cx="223844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Post-deploy HTTP health checks against </a:t>
            </a:r>
            <a:r>
              <a:rPr lang="en-US" sz="550" dirty="0">
                <a:solidFill>
                  <a:srgbClr val="4C4C4C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/actuator/health</a:t>
            </a:r>
            <a:r>
              <a:rPr lang="en-US" sz="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endpoint</a:t>
            </a:r>
            <a:endParaRPr lang="en-US" sz="550" dirty="0"/>
          </a:p>
        </p:txBody>
      </p:sp>
      <p:sp>
        <p:nvSpPr>
          <p:cNvPr id="29" name="Shape 24"/>
          <p:cNvSpPr/>
          <p:nvPr/>
        </p:nvSpPr>
        <p:spPr>
          <a:xfrm>
            <a:off x="2126531" y="5023321"/>
            <a:ext cx="4890939" cy="209029"/>
          </a:xfrm>
          <a:prstGeom prst="roundRect">
            <a:avLst>
              <a:gd name="adj" fmla="val 14243"/>
            </a:avLst>
          </a:prstGeom>
          <a:solidFill>
            <a:srgbClr val="B6D6FC"/>
          </a:solidFill>
          <a:ln/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97373" y="5116562"/>
            <a:ext cx="88553" cy="70842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2356768" y="5076453"/>
            <a:ext cx="504705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Reference: </a:t>
            </a:r>
            <a:r>
              <a:rPr lang="en-US" sz="550" dirty="0">
                <a:solidFill>
                  <a:srgbClr val="000000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reports/module-f-agent-run-evidence.txt</a:t>
            </a:r>
            <a:r>
              <a:rPr lang="en-US" sz="5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and </a:t>
            </a:r>
            <a:r>
              <a:rPr lang="en-US" sz="550" dirty="0">
                <a:solidFill>
                  <a:srgbClr val="000000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reports/phase0-azure-setup-evidence.txt</a:t>
            </a:r>
            <a:r>
              <a:rPr lang="en-US" sz="5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for run URLs and evidence.</a:t>
            </a:r>
            <a:endParaRPr lang="en-US" sz="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44414" y="296019"/>
            <a:ext cx="5359375" cy="256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Toolchain migration paths &amp; secondary workload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744414" y="670471"/>
            <a:ext cx="1481658" cy="128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Jenkins (Module J)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744414" y="845865"/>
            <a:ext cx="3313137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05000"/>
              </a:lnSpc>
              <a:buSzPct val="100000"/>
              <a:buChar char="•"/>
            </a:pPr>
            <a:r>
              <a:rPr lang="en-US" sz="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File:</a:t>
            </a:r>
            <a:r>
              <a:rPr lang="en-US" sz="600" dirty="0">
                <a:solidFill>
                  <a:srgbClr val="4C4C4C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jenkins-cloud-option.md</a:t>
            </a:r>
            <a:endParaRPr lang="en-US" sz="600" dirty="0"/>
          </a:p>
          <a:p>
            <a:pPr marL="342900" indent="-342900" algn="l">
              <a:lnSpc>
                <a:spcPct val="105000"/>
              </a:lnSpc>
              <a:buSzPct val="100000"/>
              <a:buChar char="•"/>
            </a:pPr>
            <a:r>
              <a:rPr lang="en-US" sz="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Cloud controller + ephemeral agents OR full ADO migration</a:t>
            </a:r>
            <a:endParaRPr lang="en-US" sz="600" dirty="0"/>
          </a:p>
          <a:p>
            <a:pPr marL="342900" indent="-342900" algn="l">
              <a:lnSpc>
                <a:spcPct val="105000"/>
              </a:lnSpc>
              <a:buSzPct val="100000"/>
              <a:buChar char="•"/>
            </a:pPr>
            <a:r>
              <a:rPr lang="en-US" sz="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Stage → job mapping patterns documented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1744414" y="1236538"/>
            <a:ext cx="1481658" cy="128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Bamboo (Module K)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744414" y="1411932"/>
            <a:ext cx="3313137" cy="223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05000"/>
              </a:lnSpc>
              <a:buSzPct val="100000"/>
              <a:buChar char="•"/>
            </a:pPr>
            <a:r>
              <a:rPr lang="en-US" sz="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Files: </a:t>
            </a:r>
            <a:r>
              <a:rPr lang="en-US" sz="600" dirty="0">
                <a:solidFill>
                  <a:srgbClr val="4C4C4C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bamboo-to-ado.yml + module-k-bamboo-migration-decision-table.csv</a:t>
            </a:r>
            <a:endParaRPr lang="en-US" sz="600" dirty="0"/>
          </a:p>
          <a:p>
            <a:pPr marL="342900" indent="-342900" algn="l">
              <a:lnSpc>
                <a:spcPct val="105000"/>
              </a:lnSpc>
              <a:buSzPct val="100000"/>
              <a:buChar char="•"/>
            </a:pPr>
            <a:r>
              <a:rPr lang="en-US" sz="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Plan/stage/job → ADO stage/job conversion</a:t>
            </a:r>
            <a:endParaRPr lang="en-US" sz="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4414" y="1688604"/>
            <a:ext cx="3313137" cy="7457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44414" y="2487588"/>
            <a:ext cx="1481658" cy="128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GitLab (Module L)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744414" y="2662982"/>
            <a:ext cx="3313137" cy="463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05000"/>
              </a:lnSpc>
              <a:buSzPct val="100000"/>
              <a:buChar char="•"/>
            </a:pPr>
            <a:r>
              <a:rPr lang="en-US" sz="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Files: </a:t>
            </a:r>
            <a:r>
              <a:rPr lang="en-US" sz="600" dirty="0">
                <a:solidFill>
                  <a:srgbClr val="4C4C4C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gitlab-to-ado.yml + gitlab-risks.md</a:t>
            </a:r>
            <a:endParaRPr lang="en-US" sz="600" dirty="0"/>
          </a:p>
          <a:p>
            <a:pPr marL="342900" indent="-342900" algn="l">
              <a:lnSpc>
                <a:spcPct val="105000"/>
              </a:lnSpc>
              <a:buSzPct val="100000"/>
              <a:buChar char="•"/>
            </a:pPr>
            <a:r>
              <a:rPr lang="en-US" sz="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Runners → self-hosted pools mapping</a:t>
            </a:r>
            <a:endParaRPr lang="en-US" sz="600" dirty="0"/>
          </a:p>
          <a:p>
            <a:pPr marL="342900" indent="-342900" algn="l">
              <a:lnSpc>
                <a:spcPct val="105000"/>
              </a:lnSpc>
              <a:buSzPct val="100000"/>
              <a:buChar char="•"/>
            </a:pPr>
            <a:r>
              <a:rPr lang="en-US" sz="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Variables → Key Vault integration</a:t>
            </a:r>
            <a:endParaRPr lang="en-US" sz="600" dirty="0"/>
          </a:p>
          <a:p>
            <a:pPr marL="342900" indent="-342900" algn="l">
              <a:lnSpc>
                <a:spcPct val="105000"/>
              </a:lnSpc>
              <a:buSzPct val="100000"/>
              <a:buChar char="•"/>
            </a:pPr>
            <a:r>
              <a:rPr lang="en-US" sz="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Risk assessment and mitigation strategies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1744414" y="3173611"/>
            <a:ext cx="3461370" cy="128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GitHub Actions (Module I, optional as we implemented ADO)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744414" y="3349005"/>
            <a:ext cx="3313137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05000"/>
              </a:lnSpc>
              <a:buSzPct val="100000"/>
              <a:buChar char="•"/>
            </a:pPr>
            <a:r>
              <a:rPr lang="en-US" sz="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File: pipelines/github-actions/deploy-container.yml</a:t>
            </a:r>
            <a:endParaRPr lang="en-US" sz="600" dirty="0"/>
          </a:p>
          <a:p>
            <a:pPr marL="342900" indent="-342900" algn="l">
              <a:lnSpc>
                <a:spcPct val="105000"/>
              </a:lnSpc>
              <a:buSzPct val="100000"/>
              <a:buChar char="•"/>
            </a:pPr>
            <a:r>
              <a:rPr lang="en-US" sz="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OIDC pattern (alternate to ADO)</a:t>
            </a:r>
            <a:endParaRPr lang="en-US" sz="600" dirty="0"/>
          </a:p>
          <a:p>
            <a:pPr marL="342900" indent="-342900" algn="l">
              <a:lnSpc>
                <a:spcPct val="105000"/>
              </a:lnSpc>
              <a:buSzPct val="100000"/>
              <a:buChar char="•"/>
            </a:pPr>
            <a:r>
              <a:rPr lang="en-US" sz="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Demonstrates multi-platform capability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1744414" y="3739679"/>
            <a:ext cx="2189113" cy="128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Secondary Workload: Python Flask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744414" y="3915073"/>
            <a:ext cx="3313137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05000"/>
              </a:lnSpc>
              <a:buSzPct val="100000"/>
              <a:buChar char="•"/>
            </a:pPr>
            <a:r>
              <a:rPr lang="en-US" sz="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File: azure-pipelines-python.yml</a:t>
            </a:r>
            <a:endParaRPr lang="en-US" sz="600" dirty="0"/>
          </a:p>
          <a:p>
            <a:pPr marL="342900" indent="-342900" algn="l">
              <a:lnSpc>
                <a:spcPct val="105000"/>
              </a:lnSpc>
              <a:buSzPct val="100000"/>
              <a:buChar char="•"/>
            </a:pPr>
            <a:r>
              <a:rPr lang="en-US" sz="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Successfully executed on same ado-selfhosted-linux pool</a:t>
            </a:r>
            <a:endParaRPr lang="en-US" sz="600" dirty="0"/>
          </a:p>
          <a:p>
            <a:pPr marL="342900" indent="-342900" algn="l">
              <a:lnSpc>
                <a:spcPct val="105000"/>
              </a:lnSpc>
              <a:buSzPct val="100000"/>
              <a:buChar char="•"/>
            </a:pPr>
            <a:r>
              <a:rPr lang="en-US" sz="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Proof of template reusability across languages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5262190" y="670471"/>
            <a:ext cx="1878285" cy="128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Conversion Pattern Example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5262190" y="851818"/>
            <a:ext cx="2142083" cy="2025700"/>
          </a:xfrm>
          <a:prstGeom prst="roundRect">
            <a:avLst>
              <a:gd name="adj" fmla="val 1699"/>
            </a:avLst>
          </a:prstGeom>
          <a:solidFill>
            <a:srgbClr val="F0EEEA"/>
          </a:solidFill>
          <a:ln/>
        </p:spPr>
      </p:sp>
      <p:sp>
        <p:nvSpPr>
          <p:cNvPr id="16" name="Shape 13"/>
          <p:cNvSpPr/>
          <p:nvPr/>
        </p:nvSpPr>
        <p:spPr>
          <a:xfrm>
            <a:off x="5258098" y="851818"/>
            <a:ext cx="2150269" cy="2025700"/>
          </a:xfrm>
          <a:prstGeom prst="roundRect">
            <a:avLst>
              <a:gd name="adj" fmla="val 607"/>
            </a:avLst>
          </a:prstGeom>
          <a:solidFill>
            <a:srgbClr val="F0EEEA"/>
          </a:solidFill>
          <a:ln/>
        </p:spPr>
      </p:sp>
      <p:sp>
        <p:nvSpPr>
          <p:cNvPr id="17" name="Text 14"/>
          <p:cNvSpPr/>
          <p:nvPr/>
        </p:nvSpPr>
        <p:spPr>
          <a:xfrm>
            <a:off x="5360491" y="933748"/>
            <a:ext cx="1945481" cy="186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" dirty="0">
                <a:solidFill>
                  <a:srgbClr val="6A737D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Excerpt from bamboo-to-ado.yml
stages:
- stage: Build
  displayName: 'Build and Package'
  jobs:
  - job: MavenBuild
    steps:
    - task: Maven@3
      displayName: 'Maven Build'
      inputs:
        mavenPomFile: 'pom.xml'
        goals: 'package'
    - task: PublishBuildArtifacts@1
      inputs:
        pathToPublish: '$(Build.ArtifactStagingDirectory)'
        artifactName: 'drop'
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5592366" y="2930798"/>
            <a:ext cx="1253058" cy="128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Python Pipeline Run</a:t>
            </a:r>
            <a:endParaRPr lang="en-US" sz="8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2190" y="3112145"/>
            <a:ext cx="2142083" cy="112439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262190" y="4289822"/>
            <a:ext cx="2142083" cy="206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600" u="sng" dirty="0">
                <a:solidFill>
                  <a:srgbClr val="3A3A3A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https://dev.azure.com/debibrat2021/migration-assessment/_build/results?buildId=20&amp;view=results</a:t>
            </a:r>
            <a:endParaRPr lang="en-US" sz="600" dirty="0"/>
          </a:p>
        </p:txBody>
      </p:sp>
      <p:sp>
        <p:nvSpPr>
          <p:cNvPr id="21" name="Shape 17"/>
          <p:cNvSpPr/>
          <p:nvPr/>
        </p:nvSpPr>
        <p:spPr>
          <a:xfrm>
            <a:off x="1744414" y="4592613"/>
            <a:ext cx="5655171" cy="254794"/>
          </a:xfrm>
          <a:prstGeom prst="roundRect">
            <a:avLst>
              <a:gd name="adj" fmla="val 13510"/>
            </a:avLst>
          </a:prstGeom>
          <a:solidFill>
            <a:srgbClr val="DDDAD4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6344" y="4704234"/>
            <a:ext cx="102394" cy="8193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2010668" y="4660404"/>
            <a:ext cx="5764188" cy="103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"Same patterns, different source systems—templates absorb 80% of conversion."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0838" y="256356"/>
            <a:ext cx="3736032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Jira Server → Jira Cloud readiness</a:t>
            </a:r>
            <a:endParaRPr lang="en-US" sz="1550" dirty="0"/>
          </a:p>
        </p:txBody>
      </p:sp>
      <p:sp>
        <p:nvSpPr>
          <p:cNvPr id="3" name="Text 1"/>
          <p:cNvSpPr/>
          <p:nvPr/>
        </p:nvSpPr>
        <p:spPr>
          <a:xfrm>
            <a:off x="1820838" y="617562"/>
            <a:ext cx="1653332" cy="149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Analyzer Tool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820838" y="811783"/>
            <a:ext cx="3223543" cy="239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File:</a:t>
            </a:r>
            <a:r>
              <a:rPr lang="en-US" sz="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sz="600" dirty="0">
                <a:solidFill>
                  <a:srgbClr val="4C4C4C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tools/jira_migration_readiness_analyzer.py</a:t>
            </a:r>
            <a:endParaRPr lang="en-US" sz="6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Analyzed mock jira-export/ CSVs for compatibility and risk assessment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1820838" y="1096342"/>
            <a:ext cx="1653332" cy="149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Migration Scope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820838" y="1290563"/>
            <a:ext cx="3223543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04000"/>
              </a:lnSpc>
              <a:buSzPct val="100000"/>
              <a:buChar char="•"/>
            </a:pPr>
            <a:r>
              <a:rPr lang="en-US" sz="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4 projects</a:t>
            </a:r>
            <a:endParaRPr lang="en-US" sz="600" dirty="0"/>
          </a:p>
          <a:p>
            <a:pPr marL="342900" indent="-342900" algn="l">
              <a:lnSpc>
                <a:spcPct val="104000"/>
              </a:lnSpc>
              <a:buSzPct val="100000"/>
              <a:buChar char="•"/>
            </a:pPr>
            <a:r>
              <a:rPr lang="en-US" sz="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~2,600 issues</a:t>
            </a:r>
            <a:endParaRPr lang="en-US" sz="600" dirty="0"/>
          </a:p>
          <a:p>
            <a:pPr marL="342900" indent="-342900" algn="l">
              <a:lnSpc>
                <a:spcPct val="104000"/>
              </a:lnSpc>
              <a:buSzPct val="100000"/>
              <a:buChar char="•"/>
            </a:pPr>
            <a:r>
              <a:rPr lang="en-US" sz="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18.1 GB attachments</a:t>
            </a:r>
            <a:endParaRPr lang="en-US" sz="600" dirty="0"/>
          </a:p>
          <a:p>
            <a:pPr marL="342900" indent="-342900" algn="l">
              <a:lnSpc>
                <a:spcPct val="104000"/>
              </a:lnSpc>
              <a:buSzPct val="100000"/>
              <a:buChar char="•"/>
            </a:pPr>
            <a:r>
              <a:rPr lang="en-US" sz="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2 incompatible apps: ScriptRunner, Custom Field Suite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1820838" y="1781101"/>
            <a:ext cx="1653332" cy="149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Migration Waves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0838" y="1980977"/>
            <a:ext cx="159469" cy="99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dirty="0">
                <a:solidFill>
                  <a:srgbClr val="4C4C4C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01</a:t>
            </a:r>
            <a:endParaRPr lang="en-US" sz="600" dirty="0"/>
          </a:p>
        </p:txBody>
      </p:sp>
      <p:sp>
        <p:nvSpPr>
          <p:cNvPr id="9" name="Shape 7"/>
          <p:cNvSpPr/>
          <p:nvPr/>
        </p:nvSpPr>
        <p:spPr>
          <a:xfrm>
            <a:off x="1820838" y="2106885"/>
            <a:ext cx="1589336" cy="9525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10" name="Text 8"/>
          <p:cNvSpPr/>
          <p:nvPr/>
        </p:nvSpPr>
        <p:spPr>
          <a:xfrm>
            <a:off x="1820838" y="2165747"/>
            <a:ext cx="996776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Wave 0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820838" y="2335188"/>
            <a:ext cx="1589336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Pre-migration validation and dry-run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3454971" y="1980977"/>
            <a:ext cx="159469" cy="99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dirty="0">
                <a:solidFill>
                  <a:srgbClr val="4C4C4C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02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3454971" y="2106885"/>
            <a:ext cx="1589410" cy="9525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14" name="Text 12"/>
          <p:cNvSpPr/>
          <p:nvPr/>
        </p:nvSpPr>
        <p:spPr>
          <a:xfrm>
            <a:off x="3454971" y="2165747"/>
            <a:ext cx="996776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Wave 1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454971" y="2335188"/>
            <a:ext cx="1589410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INFRA/REL project cutover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1820838" y="2539454"/>
            <a:ext cx="159469" cy="99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dirty="0">
                <a:solidFill>
                  <a:srgbClr val="4C4C4C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03</a:t>
            </a:r>
            <a:endParaRPr lang="en-US" sz="600" dirty="0"/>
          </a:p>
        </p:txBody>
      </p:sp>
      <p:sp>
        <p:nvSpPr>
          <p:cNvPr id="17" name="Shape 15"/>
          <p:cNvSpPr/>
          <p:nvPr/>
        </p:nvSpPr>
        <p:spPr>
          <a:xfrm>
            <a:off x="1820838" y="2665363"/>
            <a:ext cx="1589336" cy="9525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18" name="Text 16"/>
          <p:cNvSpPr/>
          <p:nvPr/>
        </p:nvSpPr>
        <p:spPr>
          <a:xfrm>
            <a:off x="1820838" y="2724224"/>
            <a:ext cx="996776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Wave 2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820838" y="2893665"/>
            <a:ext cx="1589336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DEVOPS project cutover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3454971" y="2539454"/>
            <a:ext cx="159469" cy="99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dirty="0">
                <a:solidFill>
                  <a:srgbClr val="4C4C4C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04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3454971" y="2665363"/>
            <a:ext cx="1589410" cy="9525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22" name="Text 20"/>
          <p:cNvSpPr/>
          <p:nvPr/>
        </p:nvSpPr>
        <p:spPr>
          <a:xfrm>
            <a:off x="3454971" y="2724224"/>
            <a:ext cx="996776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Wave 3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454971" y="2893665"/>
            <a:ext cx="1589410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PET project cutover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1820838" y="3097932"/>
            <a:ext cx="159469" cy="99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dirty="0">
                <a:solidFill>
                  <a:srgbClr val="4C4C4C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05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1820838" y="3223840"/>
            <a:ext cx="3223543" cy="9525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26" name="Text 24"/>
          <p:cNvSpPr/>
          <p:nvPr/>
        </p:nvSpPr>
        <p:spPr>
          <a:xfrm>
            <a:off x="1820838" y="3282702"/>
            <a:ext cx="996776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Wave 4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820838" y="3452143"/>
            <a:ext cx="3223543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Hypercare and stabilization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1820838" y="3662065"/>
            <a:ext cx="1653332" cy="149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Cutover Strategy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820838" y="3856286"/>
            <a:ext cx="3223543" cy="330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04000"/>
              </a:lnSpc>
              <a:buSzPct val="100000"/>
              <a:buChar char="•"/>
            </a:pPr>
            <a:r>
              <a:rPr lang="en-US" sz="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JCMA-style cutover approach</a:t>
            </a:r>
            <a:endParaRPr lang="en-US" sz="600" dirty="0"/>
          </a:p>
          <a:p>
            <a:pPr marL="342900" indent="-342900" algn="l">
              <a:lnSpc>
                <a:spcPct val="104000"/>
              </a:lnSpc>
              <a:buSzPct val="100000"/>
              <a:buChar char="•"/>
            </a:pPr>
            <a:r>
              <a:rPr lang="en-US" sz="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Test migration → UAT → prod cutover → 24h rollback boundary</a:t>
            </a:r>
            <a:endParaRPr lang="en-US" sz="600" dirty="0"/>
          </a:p>
          <a:p>
            <a:pPr marL="342900" indent="-342900" algn="l">
              <a:lnSpc>
                <a:spcPct val="104000"/>
              </a:lnSpc>
              <a:buSzPct val="100000"/>
              <a:buChar char="•"/>
            </a:pPr>
            <a:r>
              <a:rPr lang="en-US" sz="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Rollback plan active for 24 hours post-cutover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1820838" y="4231481"/>
            <a:ext cx="1653332" cy="149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Integrations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820838" y="4425702"/>
            <a:ext cx="3223543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04000"/>
              </a:lnSpc>
              <a:buSzPct val="100000"/>
              <a:buChar char="•"/>
            </a:pPr>
            <a:r>
              <a:rPr lang="en-US" sz="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ADO work items (AB# linking)</a:t>
            </a:r>
            <a:endParaRPr lang="en-US" sz="600" dirty="0"/>
          </a:p>
          <a:p>
            <a:pPr marL="342900" indent="-342900" algn="l">
              <a:lnSpc>
                <a:spcPct val="104000"/>
              </a:lnSpc>
              <a:buSzPct val="100000"/>
              <a:buChar char="•"/>
            </a:pPr>
            <a:r>
              <a:rPr lang="en-US" sz="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GitHub issue linking</a:t>
            </a:r>
            <a:endParaRPr lang="en-US" sz="600" dirty="0"/>
          </a:p>
          <a:p>
            <a:pPr marL="342900" indent="-342900" algn="l">
              <a:lnSpc>
                <a:spcPct val="104000"/>
              </a:lnSpc>
              <a:buSzPct val="100000"/>
              <a:buChar char="•"/>
            </a:pPr>
            <a:r>
              <a:rPr lang="en-US" sz="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ServiceNow integration</a:t>
            </a:r>
            <a:endParaRPr lang="en-US" sz="600" dirty="0"/>
          </a:p>
          <a:p>
            <a:pPr marL="342900" indent="-342900" algn="l">
              <a:lnSpc>
                <a:spcPct val="104000"/>
              </a:lnSpc>
              <a:buSzPct val="100000"/>
              <a:buChar char="•"/>
            </a:pPr>
            <a:r>
              <a:rPr lang="en-US" sz="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Pipeline deployment evidence tracking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5243661" y="1785268"/>
            <a:ext cx="1653332" cy="149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243661" y="1985144"/>
            <a:ext cx="2084189" cy="657969"/>
          </a:xfrm>
          <a:prstGeom prst="roundRect">
            <a:avLst>
              <a:gd name="adj" fmla="val 5090"/>
            </a:avLst>
          </a:prstGeom>
          <a:solidFill>
            <a:srgbClr val="F0EEEA"/>
          </a:solidFill>
          <a:ln/>
        </p:spPr>
      </p:sp>
      <p:sp>
        <p:nvSpPr>
          <p:cNvPr id="34" name="Shape 32"/>
          <p:cNvSpPr/>
          <p:nvPr/>
        </p:nvSpPr>
        <p:spPr>
          <a:xfrm>
            <a:off x="5239717" y="1985144"/>
            <a:ext cx="2092077" cy="657969"/>
          </a:xfrm>
          <a:prstGeom prst="roundRect">
            <a:avLst>
              <a:gd name="adj" fmla="val 1818"/>
            </a:avLst>
          </a:prstGeom>
          <a:solidFill>
            <a:srgbClr val="F0EEEA"/>
          </a:solidFill>
          <a:ln/>
        </p:spPr>
      </p:sp>
      <p:sp>
        <p:nvSpPr>
          <p:cNvPr id="35" name="Text 33"/>
          <p:cNvSpPr/>
          <p:nvPr/>
        </p:nvSpPr>
        <p:spPr>
          <a:xfrm>
            <a:off x="5339358" y="2064841"/>
            <a:ext cx="1892796" cy="4985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005CC5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Total issues: 2,600</a:t>
            </a:r>
            <a:endParaRPr lang="en-US" sz="6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005CC5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Attachment size: 18.1 GB</a:t>
            </a:r>
            <a:endParaRPr lang="en-US" sz="6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005CC5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Incompatible apps: 2</a:t>
            </a:r>
            <a:endParaRPr lang="en-US" sz="6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005CC5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Risk level: Medium</a:t>
            </a:r>
            <a:endParaRPr lang="en-US" sz="6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005CC5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Estimated cutover time: 4-6 hours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5243661" y="2693566"/>
            <a:ext cx="1653332" cy="149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Compatibility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243661" y="2893442"/>
            <a:ext cx="2084189" cy="775395"/>
          </a:xfrm>
          <a:prstGeom prst="roundRect">
            <a:avLst>
              <a:gd name="adj" fmla="val 431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28196" y="2929830"/>
            <a:ext cx="1498699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ScriptRunner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6533852" y="2929830"/>
            <a:ext cx="1166738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❌</a:t>
            </a:r>
            <a:r>
              <a:rPr lang="en-US" sz="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Not compatible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5328196" y="3097560"/>
            <a:ext cx="1498699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Custom Field Suite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6533852" y="3097560"/>
            <a:ext cx="1166738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❌</a:t>
            </a:r>
            <a:r>
              <a:rPr lang="en-US" sz="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Not compatible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5328196" y="3265289"/>
            <a:ext cx="1498699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Standard fields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6533852" y="3265289"/>
            <a:ext cx="1166738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✅</a:t>
            </a:r>
            <a:r>
              <a:rPr lang="en-US" sz="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Compatible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5328196" y="3433018"/>
            <a:ext cx="1498699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Custom workflows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6533852" y="3433018"/>
            <a:ext cx="709538" cy="199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✅</a:t>
            </a:r>
            <a:r>
              <a:rPr lang="en-US" sz="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Compatible (with review)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7623" y="321692"/>
            <a:ext cx="5139110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Security, Governance &amp; Operations</a:t>
            </a:r>
            <a:endParaRPr lang="en-US" sz="2150" dirty="0"/>
          </a:p>
        </p:txBody>
      </p:sp>
      <p:sp>
        <p:nvSpPr>
          <p:cNvPr id="4" name="Shape 1"/>
          <p:cNvSpPr/>
          <p:nvPr/>
        </p:nvSpPr>
        <p:spPr>
          <a:xfrm>
            <a:off x="387623" y="797570"/>
            <a:ext cx="4939754" cy="776139"/>
          </a:xfrm>
          <a:prstGeom prst="roundRect">
            <a:avLst>
              <a:gd name="adj" fmla="val 5993"/>
            </a:avLst>
          </a:prstGeom>
          <a:solidFill>
            <a:srgbClr val="E6DED2">
              <a:alpha val="50000"/>
            </a:srgbClr>
          </a:solidFill>
          <a:ln w="4763">
            <a:solidFill>
              <a:srgbClr val="CCC4B8"/>
            </a:solidFill>
            <a:prstDash val="solid"/>
          </a:ln>
          <a:effectLst>
            <a:outerShdw dist="1397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03113" y="913061"/>
            <a:ext cx="1600498" cy="177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🔐 Secrets Management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03113" y="1142702"/>
            <a:ext cx="4708773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All secrets in Key Vault — referenced via variable groups. Zero plaintext in YAML, logs, or agent cache.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87623" y="1660178"/>
            <a:ext cx="4939754" cy="776139"/>
          </a:xfrm>
          <a:prstGeom prst="roundRect">
            <a:avLst>
              <a:gd name="adj" fmla="val 5993"/>
            </a:avLst>
          </a:prstGeom>
          <a:solidFill>
            <a:srgbClr val="E6DED2">
              <a:alpha val="50000"/>
            </a:srgbClr>
          </a:solidFill>
          <a:ln w="4763">
            <a:solidFill>
              <a:srgbClr val="CCC4B8"/>
            </a:solidFill>
            <a:prstDash val="solid"/>
          </a:ln>
          <a:effectLst>
            <a:outerShdw dist="1397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03113" y="1775668"/>
            <a:ext cx="2852812" cy="177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✅ Prod Approvals &amp; Segregation of Duties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03113" y="2005310"/>
            <a:ext cx="4708773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ADO environment approval gates enforce separation of duties. Branch policies require PR + reviewer before merge.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87623" y="2522786"/>
            <a:ext cx="4939754" cy="776139"/>
          </a:xfrm>
          <a:prstGeom prst="roundRect">
            <a:avLst>
              <a:gd name="adj" fmla="val 5993"/>
            </a:avLst>
          </a:prstGeom>
          <a:solidFill>
            <a:srgbClr val="E6DED2">
              <a:alpha val="50000"/>
            </a:srgbClr>
          </a:solidFill>
          <a:ln w="4763">
            <a:solidFill>
              <a:srgbClr val="CCC4B8"/>
            </a:solidFill>
            <a:prstDash val="solid"/>
          </a:ln>
          <a:effectLst>
            <a:outerShdw dist="1397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03113" y="2638276"/>
            <a:ext cx="1384399" cy="177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📊 Observability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03113" y="2867918"/>
            <a:ext cx="4708773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App Insights + Log Analytics provide live metrics, failure tracking, and automated smart detection alerts.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87623" y="3385393"/>
            <a:ext cx="4939754" cy="776139"/>
          </a:xfrm>
          <a:prstGeom prst="roundRect">
            <a:avLst>
              <a:gd name="adj" fmla="val 5993"/>
            </a:avLst>
          </a:prstGeom>
          <a:solidFill>
            <a:srgbClr val="E6DED2">
              <a:alpha val="50000"/>
            </a:srgbClr>
          </a:solidFill>
          <a:ln w="4763">
            <a:solidFill>
              <a:srgbClr val="CCC4B8"/>
            </a:solidFill>
            <a:prstDash val="solid"/>
          </a:ln>
          <a:effectLst>
            <a:outerShdw dist="1397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03113" y="3500884"/>
            <a:ext cx="1675433" cy="177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🔁 Rollback &amp; Hypercare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03113" y="3730526"/>
            <a:ext cx="4708773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ACR immutable tags enable instant rollback. Hypercare period with elevated monitoring post-cutover.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387623" y="4258866"/>
            <a:ext cx="4939754" cy="562868"/>
          </a:xfrm>
          <a:prstGeom prst="roundRect">
            <a:avLst>
              <a:gd name="adj" fmla="val 8264"/>
            </a:avLst>
          </a:prstGeom>
          <a:solidFill>
            <a:srgbClr val="DDDAD4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51" y="4419451"/>
            <a:ext cx="138410" cy="11072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47489" y="4373017"/>
            <a:ext cx="4469160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Full evidence package: Key Vault screenshots, approval policy configs, App Insights dashboards, and governance runbooks included.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4</cp:revision>
  <dcterms:created xsi:type="dcterms:W3CDTF">2026-05-27T09:47:04Z</dcterms:created>
  <dcterms:modified xsi:type="dcterms:W3CDTF">2026-05-27T09:53:19Z</dcterms:modified>
</cp:coreProperties>
</file>